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6F0E6"/>
                </a:solidFill>
                <a:latin typeface="Microsoft YaHei"/>
                <a:ea typeface="Microsoft YaHei"/>
              </a:rPr>
              <a:t>小熊电器 AI 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FF8A4C"/>
                </a:solidFill>
                <a:latin typeface="Microsoft YaHei"/>
                <a:ea typeface="Microsoft YaHei"/>
              </a:rPr>
              <a:t>让 AI 从「人工辅助」走向「全自主接待」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A99C8B"/>
                </a:solidFill>
                <a:latin typeface="Microsoft YaHei"/>
                <a:ea typeface="Microsoft YaHei"/>
              </a:rPr>
              <a:t>基于大模型 RAG，融合产品知识库与多平台规则</a:t>
            </a:r>
          </a:p>
        </p:txBody>
      </p:sp>
      <p:sp>
        <p:nvSpPr>
          <p:cNvPr id="7" name="Oval 6"/>
          <p:cNvSpPr/>
          <p:nvPr/>
        </p:nvSpPr>
        <p:spPr>
          <a:xfrm>
            <a:off x="5550408" y="4892040"/>
            <a:ext cx="201168" cy="201168"/>
          </a:xfrm>
          <a:prstGeom prst="ellipse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34456" y="4892040"/>
            <a:ext cx="201168" cy="201168"/>
          </a:xfrm>
          <a:prstGeom prst="ellipse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18504" y="4892040"/>
            <a:ext cx="201168" cy="201168"/>
          </a:xfrm>
          <a:prstGeom prst="ellipse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为什么要做？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千牛人工分岗 + 转接流转，五大痛点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01  分流不精准、转接多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售前/售中人工分岗，分流不准就转接，用户被转来转去、转化流失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02  接待受人力限制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淘系/京东/抖音多平台并线，高峰响应慢，体验分与转化率承压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03  话术标准化难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售前/售中话术参差，新人培训 2-4 周，知识更新滞后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5303520" cy="160020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82296" cy="160020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04  质量靠事后记录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502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赤兔名品只记接待量/满意度/转化率，无法实时提升话术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892040"/>
            <a:ext cx="5029200" cy="15087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4892040"/>
            <a:ext cx="82296" cy="15087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5074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0E6"/>
                </a:solidFill>
                <a:latin typeface="Microsoft YaHei"/>
                <a:ea typeface="Microsoft YaHei"/>
              </a:rPr>
              <a:t>05  多平台规则适配难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641848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京东/天猫/抖音规则各异，人工易记混出错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我们的方案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一句话讲清核心思路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46304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一个 AI，全岗位自主接待</a:t>
            </a:r>
          </a:p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4571E"/>
                </a:solidFill>
                <a:latin typeface="Microsoft YaHei"/>
                <a:ea typeface="Microsoft YaHei"/>
              </a:rPr>
              <a:t>替代「人工分岗 + 分流 + 转接」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A99C8B"/>
                </a:solidFill>
                <a:latin typeface="Microsoft YaHei"/>
                <a:ea typeface="Microsoft YaHei"/>
              </a:rPr>
              <a:t>进线即自动分流（售前 / 售中 / 售后）→ RAG 检索 + 大模型生成 → 秒级回复、无需转接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对标千牛工作流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从「人工分岗 + 转接」到「AI 全岗位自主接待」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A99C8B"/>
                </a:solidFill>
                <a:latin typeface="Microsoft YaHei"/>
                <a:ea typeface="Microsoft YaHei"/>
              </a:rPr>
              <a:t>现状 · 千牛人工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　分岗 + 转接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客户进线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淘系/京东/抖音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系统分流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人工/规则分流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82296" cy="960120"/>
          </a:xfrm>
          <a:prstGeom prst="rect">
            <a:avLst/>
          </a:prstGeom>
          <a:solidFill>
            <a:srgbClr val="A99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售前 / 售中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分岗位接待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40" y="228600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D1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82296" cy="960120"/>
          </a:xfrm>
          <a:prstGeom prst="rect">
            <a:avLst/>
          </a:prstGeom>
          <a:solidFill>
            <a:srgbClr val="D1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92024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14A3C"/>
                </a:solidFill>
                <a:latin typeface="Microsoft YaHei"/>
                <a:ea typeface="Microsoft YaHei"/>
              </a:rPr>
              <a:t>转接 / 流失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分流不精准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992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14A3C"/>
                </a:solidFill>
                <a:latin typeface="Microsoft YaHei"/>
                <a:ea typeface="Microsoft YaHei"/>
              </a:rPr>
              <a:t>分流不精准 → 转接 → 用户被转来转去、转化流失；质量只能事后靠赤兔名品记录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 typeface="Microsoft YaHei"/>
              </a:rPr>
              <a:t>方案 · AI 自主接待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　进线即自动分流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82296" cy="96012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客户进线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多平台统一网关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0896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4160520"/>
            <a:ext cx="82296" cy="96012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AI 自动分流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售前/售中/售后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4360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160520"/>
            <a:ext cx="82296" cy="96012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RAG 检索 + 生成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知识库 + 大模型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78240" y="4526280"/>
            <a:ext cx="36576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4160520"/>
            <a:ext cx="2377440" cy="960120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4160520"/>
            <a:ext cx="82296" cy="96012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4160520"/>
            <a:ext cx="23774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秒级回复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99C8B"/>
                </a:solidFill>
                <a:latin typeface="Microsoft YaHei"/>
                <a:ea typeface="Microsoft YaHei"/>
              </a:rPr>
              <a:t>无需转接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2303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4571E"/>
                </a:solidFill>
                <a:latin typeface="Microsoft YaHei"/>
                <a:ea typeface="Microsoft YaHei"/>
              </a:rPr>
              <a:t>AI 进线即自动分流到售前 / 售中 / 售后，直接解决咨询，全程无需转接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881360" cy="77724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10881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</a:rPr>
              <a:t>赤兔名品三指标</a:t>
            </a: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　接待量 · 满意度 · 转化率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　→　现状仅事后记录，</a:t>
            </a: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AI 实时提升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对应赛题的核心要求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① 话术生成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RAG 检索产品知识 + 平台规则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实时生成贴合问题的回复话术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三要素：卖点(FAB) + 对比 + 促单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② 岗位自动分流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进线即意图识别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自动路由 售前 / 售中 / 售后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无需人工分岗与转接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37360"/>
            <a:ext cx="3429000" cy="3108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59" y="1737360"/>
            <a:ext cx="3429000" cy="68580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8A4C"/>
                </a:solidFill>
                <a:latin typeface="Microsoft YaHei"/>
                <a:ea typeface="Microsoft YaHei"/>
              </a:rPr>
              <a:t>③ 智能接待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514600"/>
            <a:ext cx="288036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多轮对话上下文理解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主动引导、推荐、挖需、促单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· 跑通「推荐→讲解→挖需→促单」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数据层 → 检索层 → 生成层 → 对话层 → 应用层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3840480" cy="548640"/>
          </a:xfrm>
          <a:prstGeom prst="roundRect">
            <a:avLst/>
          </a:prstGeom>
          <a:solidFill>
            <a:srgbClr val="2A2017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0520" y="1417320"/>
            <a:ext cx="82296" cy="54864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417320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买家咨询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51192" y="1490472"/>
            <a:ext cx="658368" cy="256032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10C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240280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E0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2240280"/>
            <a:ext cx="82296" cy="658368"/>
          </a:xfrm>
          <a:prstGeom prst="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意图识别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推荐·对比·参数·优惠·物流·售后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1192" y="2313432"/>
            <a:ext cx="658368" cy="256032"/>
          </a:xfrm>
          <a:prstGeom prst="round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10C"/>
                </a:solidFill>
                <a:latin typeface="Microsoft YaHei"/>
                <a:ea typeface="Microsoft YaHei"/>
              </a:rPr>
              <a:t>对话层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172968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3172968"/>
            <a:ext cx="82296" cy="65836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172968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检索 · BM25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中文分词 · Top-K 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246120"/>
            <a:ext cx="658368" cy="256032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10C"/>
                </a:solidFill>
                <a:latin typeface="Microsoft YaHei"/>
                <a:ea typeface="Microsoft YaHei"/>
              </a:rPr>
              <a:t>检索层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4105656"/>
            <a:ext cx="3840480" cy="658368"/>
          </a:xfrm>
          <a:prstGeom prst="roundRect">
            <a:avLst/>
          </a:prstGeom>
          <a:solidFill>
            <a:srgbClr val="221A13"/>
          </a:solidFill>
          <a:ln w="1905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4105656"/>
            <a:ext cx="82296" cy="65836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105656"/>
            <a:ext cx="3657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生成 · DeepSeek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卖点(FAB)+对比+促单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2" y="4178808"/>
            <a:ext cx="658368" cy="256032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10C"/>
                </a:solidFill>
                <a:latin typeface="Microsoft YaHei"/>
                <a:ea typeface="Microsoft YaHei"/>
              </a:rPr>
              <a:t>生成层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038344"/>
            <a:ext cx="3840480" cy="548640"/>
          </a:xfrm>
          <a:prstGeom prst="roundRect">
            <a:avLst/>
          </a:prstGeom>
          <a:solidFill>
            <a:srgbClr val="2A2017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5038344"/>
            <a:ext cx="82296" cy="54864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5038344"/>
            <a:ext cx="3657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6F0E6"/>
                </a:solidFill>
                <a:latin typeface="Microsoft YaHei"/>
                <a:ea typeface="Microsoft YaHei"/>
              </a:rPr>
              <a:t>AI 回复话术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5111496"/>
            <a:ext cx="658368" cy="256032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10C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52744" y="1984248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952744" y="2916936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952744" y="3849624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952744" y="4782312"/>
            <a:ext cx="256032" cy="219456"/>
          </a:xfrm>
          <a:prstGeom prst="down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3749039"/>
            <a:ext cx="3291840" cy="137160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A9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749039"/>
            <a:ext cx="82296" cy="1371600"/>
          </a:xfrm>
          <a:prstGeom prst="rect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749039"/>
            <a:ext cx="310896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A84C"/>
                </a:solidFill>
                <a:latin typeface="Microsoft YaHei"/>
                <a:ea typeface="Microsoft YaHei"/>
              </a:rPr>
              <a:t>多轮对话管理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会话历史 · 漏斗阶段跟踪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推荐→讲解→挖需→促单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721607" y="4315968"/>
            <a:ext cx="402335" cy="237744"/>
          </a:xfrm>
          <a:prstGeom prst="rightArrow">
            <a:avLst/>
          </a:prstGeom>
          <a:solidFill>
            <a:srgbClr val="E0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2651760"/>
            <a:ext cx="3200400" cy="1691640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A99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724912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50224" y="3035808"/>
            <a:ext cx="2907792" cy="566928"/>
          </a:xfrm>
          <a:prstGeom prst="round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50224" y="3035808"/>
            <a:ext cx="290779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0E6"/>
                </a:solidFill>
                <a:latin typeface="Microsoft YaHei"/>
                <a:ea typeface="Microsoft YaHei"/>
              </a:rPr>
              <a:t>产品知识库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99C8B"/>
                </a:solidFill>
                <a:latin typeface="Microsoft YaHei"/>
                <a:ea typeface="Microsoft YaHei"/>
              </a:rPr>
              <a:t>卖点 / 参数 / FAQ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0224" y="3657600"/>
            <a:ext cx="2907792" cy="566928"/>
          </a:xfrm>
          <a:prstGeom prst="round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50224" y="3657600"/>
            <a:ext cx="290779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0E6"/>
                </a:solidFill>
                <a:latin typeface="Microsoft YaHei"/>
                <a:ea typeface="Microsoft YaHei"/>
              </a:rPr>
              <a:t>平台规则库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99C8B"/>
                </a:solidFill>
                <a:latin typeface="Microsoft YaHei"/>
                <a:ea typeface="Microsoft YaHei"/>
              </a:rPr>
              <a:t>优惠 / 售后 / 风格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8156448" y="3191256"/>
            <a:ext cx="347472" cy="237744"/>
          </a:xfrm>
          <a:prstGeom prst="leftArrow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943600"/>
            <a:ext cx="10881360" cy="658368"/>
          </a:xfrm>
          <a:prstGeom prst="roundRect">
            <a:avLst/>
          </a:prstGeom>
          <a:solidFill>
            <a:srgbClr val="1D1611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943600"/>
            <a:ext cx="10881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应用层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  Streamlit 可演示 Demo（话术生成 / 智能接待 / 批量对比）　</a:t>
            </a:r>
            <a:r>
              <a:rPr sz="1100" b="1">
                <a:solidFill>
                  <a:srgbClr val="FF8A4C"/>
                </a:solidFill>
                <a:latin typeface="Microsoft YaHei"/>
                <a:ea typeface="Microsoft YaHei"/>
              </a:rPr>
              <a:t>数据层</a:t>
            </a:r>
            <a:r>
              <a:rPr sz="1100" b="0">
                <a:solidFill>
                  <a:srgbClr val="A99C8B"/>
                </a:solidFill>
                <a:latin typeface="Microsoft YaHei"/>
                <a:ea typeface="Microsoft YaHei"/>
              </a:rPr>
              <a:t>  改 JSON 即更新，零训练成本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话术生成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8229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103327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8A4C"/>
                </a:solidFill>
                <a:latin typeface="Microsoft YaHei"/>
                <a:ea typeface="Microsoft YaHei"/>
              </a:rPr>
              <a:t>输入：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6F0E6"/>
                </a:solidFill>
                <a:latin typeface="Microsoft YaHei"/>
                <a:ea typeface="Microsoft YaHei"/>
              </a:rPr>
              <a:t>“这款按摩器和 SKG 比有什么优势？”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2377440"/>
          </a:xfrm>
          <a:prstGeom prst="roundRect">
            <a:avLst/>
          </a:prstGeom>
          <a:solidFill>
            <a:srgbClr val="221A13"/>
          </a:solidFill>
          <a:ln w="15240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4571E"/>
                </a:solidFill>
                <a:latin typeface="Microsoft YaHei"/>
                <a:ea typeface="Microsoft YaHei"/>
              </a:rPr>
              <a:t>输出话术（京东风格）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卖点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「3D 仿人手揉捏 + 恒温热敷，缓解颈部疲劳」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对比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「相比 SKG 同档位便宜约 30%，配置不缩水」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· 促单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A99C8B"/>
                </a:solidFill>
                <a:latin typeface="Microsoft YaHei"/>
                <a:ea typeface="Microsoft YaHei"/>
              </a:rPr>
              <a:t>    「京东自营当日发，满 199 减 30，下单赠收纳袋」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关键：展示「检索命中 → 上下文增强 → 生成」的可解释过程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多轮智能接待（3 轮自主推进）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0" cy="132588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1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361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「想给爸妈买个养生壶」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361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AI 推荐 + 挖需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640080" cy="132588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1089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2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363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「能预约吗？」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1363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AI 讲解参数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881360" cy="132588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640080" cy="132588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70916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第 3 轮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99C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6F0E6"/>
                </a:solidFill>
                <a:latin typeface="Microsoft YaHei"/>
                <a:ea typeface="Microsoft YaHei"/>
              </a:rPr>
              <a:t>买家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36592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6F0E6"/>
                </a:solidFill>
                <a:latin typeface="Microsoft YaHei"/>
                <a:ea typeface="Microsoft YaHei"/>
              </a:rPr>
              <a:t>「有优惠吗？」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736592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AI 促单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自主完成「推荐 → 讲解 → 挖需 → 促单」全链路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现场演示 · Demo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对齐赤兔名品三指标：接待量 / 满意度 / 转化率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A99C8B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554480"/>
            <a:ext cx="4023360" cy="54864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554480"/>
            <a:ext cx="40233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</a:rPr>
              <a:t>AI 话术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3840480" cy="548640"/>
          </a:xfrm>
          <a:prstGeom prst="rect">
            <a:avLst/>
          </a:prstGeom>
          <a:solidFill>
            <a:srgbClr val="2A2017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38404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A99C8B"/>
                </a:solidFill>
                <a:latin typeface="Microsoft YaHei"/>
                <a:ea typeface="Microsoft YaHei"/>
              </a:rPr>
              <a:t>人工话术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接待量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148840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148840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7×24 不设上限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148840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148840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6-10 人并发，高峰排队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62072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62072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满意度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62072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2862072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话术标准化、稳定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862072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2862072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因人而异、参差不齐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575304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转化率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75304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575304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秒回 + 促单 + 无转接流失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575304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3575304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转接流失、响应慢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88536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88536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响应速度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288536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4288536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秒级回复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288536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4288536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高峰排队 / 下班离线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01768"/>
            <a:ext cx="301752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001768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0E6"/>
                </a:solidFill>
                <a:latin typeface="Microsoft YaHei"/>
                <a:ea typeface="Microsoft YaHei"/>
              </a:rPr>
              <a:t>成本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5001768"/>
            <a:ext cx="4023360" cy="658368"/>
          </a:xfrm>
          <a:prstGeom prst="rect">
            <a:avLst/>
          </a:prstGeom>
          <a:solidFill>
            <a:srgbClr val="2A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5001768"/>
            <a:ext cx="40233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8A4C"/>
                </a:solidFill>
                <a:latin typeface="Microsoft YaHei"/>
                <a:ea typeface="Microsoft YaHei"/>
              </a:rPr>
              <a:t>边际成本趋近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5001768"/>
            <a:ext cx="3840480" cy="658368"/>
          </a:xfrm>
          <a:prstGeom prst="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5001768"/>
            <a:ext cx="3840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随业务线性增长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多平台适配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一个模型 + 规则注入，自动切换四平台话术风格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51760" cy="50292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京东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专业可靠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9C8B"/>
                </a:solidFill>
                <a:latin typeface="Microsoft YaHei"/>
                <a:ea typeface="Microsoft YaHei"/>
              </a:rPr>
              <a:t>自营正品 · 次日达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651760" cy="502920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天猫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亲切质感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9C8B"/>
                </a:solidFill>
                <a:latin typeface="Microsoft YaHei"/>
                <a:ea typeface="Microsoft YaHei"/>
              </a:rPr>
              <a:t>旗舰店 · 88VIP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51760" cy="502920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抖音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热情口语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9C8B"/>
                </a:solidFill>
                <a:latin typeface="Microsoft YaHei"/>
                <a:ea typeface="Microsoft YaHei"/>
              </a:rPr>
              <a:t>限时福利 · 抢购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417320"/>
            <a:ext cx="2651760" cy="141732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39" y="1417320"/>
            <a:ext cx="2651760" cy="502920"/>
          </a:xfrm>
          <a:prstGeom prst="round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14813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6F0E6"/>
                </a:solidFill>
                <a:latin typeface="Microsoft YaHei"/>
                <a:ea typeface="Microsoft YaHei"/>
              </a:rPr>
              <a:t>拼多多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020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 typeface="Microsoft YaHei"/>
              </a:rPr>
              <a:t>接地气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3774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9C8B"/>
                </a:solidFill>
                <a:latin typeface="Microsoft YaHei"/>
                <a:ea typeface="Microsoft YaHei"/>
              </a:rPr>
              <a:t>百亿补贴 · 性价比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F0E6"/>
                </a:solidFill>
                <a:latin typeface="Microsoft YaHei"/>
                <a:ea typeface="Microsoft YaHei"/>
              </a:rPr>
              <a:t>四平台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买家消息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统一网关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/webhook/{平台}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平台适配器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Adapter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246120"/>
            <a:ext cx="2377440" cy="1097280"/>
          </a:xfrm>
          <a:prstGeom prst="roundRect">
            <a:avLst/>
          </a:prstGeom>
          <a:solidFill>
            <a:srgbClr val="221A13"/>
          </a:solidFill>
          <a:ln w="15875">
            <a:solidFill>
              <a:srgbClr val="F4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324612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RAG Engine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9C8B"/>
                </a:solidFill>
                <a:latin typeface="Microsoft YaHei"/>
                <a:ea typeface="Microsoft YaHei"/>
              </a:rPr>
              <a:t>话术生成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01752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585216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8686800" y="3657600"/>
            <a:ext cx="457200" cy="274320"/>
          </a:xfrm>
          <a:prstGeom prst="rightArrow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9C8B"/>
                </a:solidFill>
                <a:latin typeface="Microsoft YaHei"/>
                <a:ea typeface="Microsoft YaHei"/>
              </a:rPr>
              <a:t>话术经同一网关回发至对应平台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 typeface="Microsoft YaHei"/>
              </a:rPr>
              <a:t>平台差异只隔离在 Adapter 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571E"/>
                </a:solidFill>
                <a:latin typeface="Microsoft YaHei"/>
                <a:ea typeface="Microsoft YaHei"/>
              </a:rPr>
              <a:t>规则独立更新，零训练成本 —— 直接回应「多平台规则适配难」痛点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566928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6F0E6"/>
                </a:solidFill>
                <a:latin typeface="Microsoft YaHei"/>
                <a:ea typeface="Microsoft YaHei"/>
              </a:rPr>
              <a:t>价值与落地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对赤兔名品三大指标的提升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接待量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AI 7×24 不设上限，人工转异常兜底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满意度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话术标准化，质量稳定不随人波动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转化率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199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秒回 + 促单 + 无转接流失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303520" cy="1737360"/>
          </a:xfrm>
          <a:prstGeom prst="roundRect">
            <a:avLst/>
          </a:prstGeom>
          <a:solidFill>
            <a:srgbClr val="221A13"/>
          </a:solidFill>
          <a:ln w="12700">
            <a:solidFill>
              <a:srgbClr val="3A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82296" cy="17373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 typeface="Microsoft YaHei"/>
              </a:rPr>
              <a:t>易落地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71999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A99C8B"/>
                </a:solidFill>
                <a:latin typeface="Microsoft YaHei"/>
                <a:ea typeface="Microsoft YaHei"/>
              </a:rPr>
              <a:t>改 JSON 即更新，零训练成本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4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6F0E6"/>
                </a:solidFill>
                <a:latin typeface="Microsoft YaHei"/>
                <a:ea typeface="Microsoft YaHei"/>
              </a:rPr>
              <a:t>让 AI 客服从「辅助工具」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4571E"/>
                </a:solidFill>
                <a:latin typeface="Microsoft YaHei"/>
                <a:ea typeface="Microsoft YaHei"/>
              </a:rPr>
              <a:t>升级为「全自主接待单元」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A99C8B"/>
                </a:solidFill>
                <a:latin typeface="Microsoft YaHei"/>
                <a:ea typeface="Microsoft YaHei"/>
              </a:rPr>
              <a:t>跑通「买家提问 → RAG 检索 → 话术生成 → 自主回复」无人化链路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